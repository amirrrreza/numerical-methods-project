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2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>
        <p:scale>
          <a:sx n="116" d="100"/>
          <a:sy n="116" d="100"/>
        </p:scale>
        <p:origin x="1400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C-AF42-839B-D11AB0F2A6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Student 1</c:v>
                </c:pt>
                <c:pt idx="1">
                  <c:v>Student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AE-2E42-8EB5-7903ABDC3F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Optimal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Student 1</c:v>
                </c:pt>
                <c:pt idx="1">
                  <c:v>Student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AE-2E42-8EB5-7903ABDC3F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39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Both
Quick intro. Set expectations: two approaches, same goal: fairness.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1
Define the fairness objective in one sentence. No code yet.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1
Set expectations for what the program consumes and produces.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1
Introduce the greedy strategy without calling it “wrong”.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1
Define “greedy” as a design pattern. Keep it neutral.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1
Walk through the code line by line. Avoid discussing counterexample yet.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1
Show a “successful” greedy case. Set up the suspense.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2
Ask the question. Pause ~60 seconds. Encourage audience to guess.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2
Reveal the counterexample. Emphasize “max load” as the metric.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2
Reframe greedy as useful but limited. Transition to optimization.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2
Introduce “model + solver” mindset.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2
Clarify roles: JuMP (model) vs HiGHS (solver).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2
Explain x and M; emphasize min-max objective.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2
Connect each constraint to a plain-English guarantee.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2
Reinforce when to use each approach.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Presenter 2
Wrap up with a clear rule-of-thumb.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Both
Q&amp;A.
[Sources]
- JuMP documentation: https://jump.dev/JuMP.jl/stable/
- HiGHS solver: https://www.maths.ed.ac.uk/hall/HiGHS/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965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Questions Among Students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vs Optimal Optimization (JuMP + HiGHS)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5074920"/>
            <a:ext cx="10607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97280" y="5257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Amirreza Mohammadi Farhangi  •  Nima Zahmatkesh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3914" y="6217920"/>
            <a:ext cx="1049959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10881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10058400" cy="1413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questions and m students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has a difficulty weight (1–4 stars)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must be assigned to exactly one student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43000" y="4434840"/>
            <a:ext cx="10058400" cy="14630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41732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498348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maximum total stars assigned to any student.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&amp; Outputs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135050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0" cy="5074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2103120"/>
            <a:ext cx="4754880" cy="122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questions (n_q)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students (n_s)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value per question: stars[i] ∈ {1,2,3,4}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4800600" cy="122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assigned to each student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stars per student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(Optimal model) Maximum load 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4078" y="5715000"/>
            <a:ext cx="1028699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234440" y="5852160"/>
            <a:ext cx="27432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34440" y="5925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09448" y="5916168"/>
            <a:ext cx="457200" cy="2926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663440" y="5852160"/>
            <a:ext cx="2743200" cy="4572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663440" y="5925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46686" y="5916168"/>
            <a:ext cx="457200" cy="2926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092440" y="5852160"/>
            <a:ext cx="27432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092440" y="5925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Idea (Heuristic)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intuition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10241280" cy="1413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questions by stars (hardest first)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next question to the least-loaded student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all questions are assigned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4800600"/>
            <a:ext cx="10241280" cy="1143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88720" y="50749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Hardest-first  →  Least-loaded  →  Assign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Greedy Programming?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135050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= local best choice, repeated.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10241280" cy="1413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choose the option that looks best right now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fast and simple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or may not lead to the global optimum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5166360"/>
            <a:ext cx="1024128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34440" y="5394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methods are heuristics: often good, not guaranteed.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Core 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125111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" y="1600200"/>
            <a:ext cx="667512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25880" y="1764792"/>
            <a:ext cx="603504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(Greedy Assignment)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148840"/>
            <a:ext cx="6126480" cy="0"/>
          </a:xfrm>
          <a:prstGeom prst="line">
            <a:avLst/>
          </a:prstGeom>
          <a:noFill/>
          <a:ln w="12700">
            <a:solidFill>
              <a:srgbClr val="233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6035040" cy="3611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# Sort by stars (descending)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sorted_questions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# Assign each question to the least-loaded student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sval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sorted_questions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argmin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totalStars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push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studentQuestions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totalStars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sval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18120" y="1600200"/>
            <a:ext cx="3703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12" name="Text 10"/>
          <p:cNvSpPr/>
          <p:nvPr/>
        </p:nvSpPr>
        <p:spPr>
          <a:xfrm>
            <a:off x="8092440" y="1874520"/>
            <a:ext cx="3291840" cy="36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2286000"/>
            <a:ext cx="3383280" cy="112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questions first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current minimum load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code footprint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83111" y="4867326"/>
            <a:ext cx="3383280" cy="10515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15" name="Text 13"/>
          <p:cNvSpPr/>
          <p:nvPr/>
        </p:nvSpPr>
        <p:spPr>
          <a:xfrm>
            <a:off x="8168640" y="5006340"/>
            <a:ext cx="3017520" cy="82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in many cases — but not always optimal.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Example Output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181890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4    Questions = 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Stars = [4, 3, 3, 2, 2, 1, 1, 1]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971800"/>
            <a:ext cx="6903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80160" y="3136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136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3136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3474720"/>
            <a:ext cx="630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8016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Q1, Q8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Q2, Q6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4251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846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Q3, Q7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4846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5440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83280" y="5440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Q4, Q5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5440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02922" y="187452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28" name="Text 26"/>
          <p:cNvSpPr/>
          <p:nvPr/>
        </p:nvSpPr>
        <p:spPr>
          <a:xfrm>
            <a:off x="8366760" y="2057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distribution</a:t>
            </a:r>
            <a:endParaRPr lang="en-US" sz="14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8275320" y="2377440"/>
          <a:ext cx="31546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Shape 27"/>
          <p:cNvSpPr/>
          <p:nvPr/>
        </p:nvSpPr>
        <p:spPr>
          <a:xfrm>
            <a:off x="8183880" y="5897880"/>
            <a:ext cx="3002280" cy="704088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8275320" y="600535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balanced — next we ask: is it always best?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317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Greedy solution always optimal?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04672" y="3337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counterexample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Counterexample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GREEDY CAN FAIL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171380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Stars = [3, 3, 2, 2, 2]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697480"/>
            <a:ext cx="5257800" cy="1234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3444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154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Totals: 7 and 5  →  max = 7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005840" y="4069080"/>
            <a:ext cx="5257800" cy="12344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3444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526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Totals: 6 and 6  →  max = 6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92240" y="1600200"/>
            <a:ext cx="4800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720840" y="1783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vs Optimal (Loads)</a:t>
            </a:r>
            <a:endParaRPr lang="en-US" sz="14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720840" y="2057400"/>
          <a:ext cx="4343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6492240" y="5897880"/>
            <a:ext cx="4572000" cy="8229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629400" y="597303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makes local choices → can miss the global optimum.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Greedy Programming?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160870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greedy strategy can fail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10241280" cy="1413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commits early: decisions are not revisited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 “best” move can block a better final distribution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method that searches globally when optimality matters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5349240"/>
            <a:ext cx="102412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34440" y="5532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= fast baseline, not a proof of optimality.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Optimization?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160870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a solution that is provably optimal.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10241280" cy="1413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decision as binary variables (who gets which question)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constraints (valid assignment + fairness)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an objective (minimize the maximum load)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5257800"/>
            <a:ext cx="10241280" cy="9144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10" name="Text 8"/>
          <p:cNvSpPr/>
          <p:nvPr/>
        </p:nvSpPr>
        <p:spPr>
          <a:xfrm>
            <a:off x="1234440" y="537477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guessing, we solve it as a Mixed-Integer Optimization problem.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3455" y="1192400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5212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212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32588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modeling language in Julia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291840"/>
            <a:ext cx="4572000" cy="122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variables, constraints, objectives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the problem in math-like 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67512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that finds the optimal solution (MILP)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3291840"/>
            <a:ext cx="4572000" cy="122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feasible solutions efficiently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provably optimal assignment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8688" y="5760720"/>
            <a:ext cx="10160877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407610" y="5952744"/>
            <a:ext cx="96770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describes the math  →  HiGHS computes the best assignment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Model (Variables + Objective)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" y="1600200"/>
            <a:ext cx="10561320" cy="2880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25880" y="1764792"/>
            <a:ext cx="9921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(Variables + Objective)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148840"/>
            <a:ext cx="10012680" cy="0"/>
          </a:xfrm>
          <a:prstGeom prst="line">
            <a:avLst/>
          </a:prstGeom>
          <a:noFill/>
          <a:ln w="12700">
            <a:solidFill>
              <a:srgbClr val="233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9921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@variable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n_q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assignment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@variable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maximum load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@objective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minimize the max total stars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4617720"/>
            <a:ext cx="105613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80160" y="4800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5166360"/>
            <a:ext cx="10058400" cy="122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x[i,s] = 1 if question i is assigned to student 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is the highest total stars among all students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M produces the fairest possible assignment (by this metric)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Constraints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09370" y="1028491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" y="1600200"/>
            <a:ext cx="699516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25880" y="1764792"/>
            <a:ext cx="635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(Constraints)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148840"/>
            <a:ext cx="6446520" cy="0"/>
          </a:xfrm>
          <a:prstGeom prst="line">
            <a:avLst/>
          </a:prstGeom>
          <a:noFill/>
          <a:ln w="12700">
            <a:solidFill>
              <a:srgbClr val="233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6355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Each question -&gt; exactly one student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@constraint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n_q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# Each student's load &lt;= 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@constraint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n_q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# Optional: everyone gets at least one question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@constraint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n_q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83880" y="1600200"/>
            <a:ext cx="3383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guarantee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2240280"/>
            <a:ext cx="2971800" cy="125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questions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duplicated assignments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encoded via 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no student left empty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9620" y="5440680"/>
            <a:ext cx="3017520" cy="5029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15" name="Text 13"/>
          <p:cNvSpPr/>
          <p:nvPr/>
        </p:nvSpPr>
        <p:spPr>
          <a:xfrm>
            <a:off x="8709660" y="5532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“optimal” is guaranteed.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vs Optimization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176774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" y="1691640"/>
            <a:ext cx="521208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4930758" cy="6400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65607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(JuMP + HiGHS)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5468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60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n≈50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3108960"/>
            <a:ext cx="10561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3474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54680" y="3474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3474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solver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4023360"/>
            <a:ext cx="10561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05840" y="4389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54680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guaranteed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4389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(for this model)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840" y="4937760"/>
            <a:ext cx="10561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05840" y="5303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54680" y="5303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/ quick heuristic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5303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fairness must be optimal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5840" y="5852160"/>
            <a:ext cx="10561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458097" y="5897881"/>
            <a:ext cx="9470222" cy="68579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/>
          </a:p>
        </p:txBody>
      </p:sp>
      <p:sp>
        <p:nvSpPr>
          <p:cNvPr id="28" name="Text 26"/>
          <p:cNvSpPr/>
          <p:nvPr/>
        </p:nvSpPr>
        <p:spPr>
          <a:xfrm>
            <a:off x="1466618" y="6030426"/>
            <a:ext cx="9461701" cy="433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Greedy is a great baseline. Optimization is the safety net for correctness.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88136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05840" y="1657041"/>
            <a:ext cx="10241280" cy="1413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assignment is intuitive and quick — a strong baseline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Counterexamples show it can miss the best possible balance</a:t>
            </a:r>
            <a:endParaRPr lang="en-US" sz="22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+ HiGHS provides a provably optimal assignment by solving the full model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5623560"/>
            <a:ext cx="10241280" cy="6400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34440" y="574243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optimal fairness matters, use optimization.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0B1220"/>
                </a:solidFill>
                <a:latin typeface="Calibri"/>
              </a:rPr>
              <a:t>Approach 3: Our Own Exact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4B8A6"/>
                </a:solidFill>
                <a:latin typeface="Calibri"/>
              </a:rPr>
              <a:t>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881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241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B1220"/>
                </a:solidFill>
                <a:latin typeface="Calibri"/>
              </a:defRPr>
            </a:pPr>
            <a:r>
              <a:rPr dirty="0"/>
              <a:t>New constraint: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1024128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334155"/>
                </a:solidFill>
                <a:latin typeface="Calibri"/>
              </a:defRPr>
            </a:pPr>
            <a:r>
              <a:t>• We must NOT use JuMP/HiGHS (no external MILP solver).</a:t>
            </a:r>
          </a:p>
          <a:p>
            <a:pPr>
              <a:spcAft>
                <a:spcPts val="400"/>
              </a:spcAft>
              <a:defRPr sz="2200">
                <a:solidFill>
                  <a:srgbClr val="334155"/>
                </a:solidFill>
                <a:latin typeface="Calibri"/>
              </a:defRPr>
            </a:pPr>
            <a:r>
              <a:t>• We still want the fairest assignment: minimize the maximum stars per student.</a:t>
            </a:r>
          </a:p>
          <a:p>
            <a:pPr>
              <a:spcAft>
                <a:spcPts val="400"/>
              </a:spcAft>
              <a:defRPr sz="2200">
                <a:solidFill>
                  <a:srgbClr val="334155"/>
                </a:solidFill>
                <a:latin typeface="Calibri"/>
              </a:defRPr>
            </a:pPr>
            <a:r>
              <a:t>• This is the classic load‑balancing problem P||Cmax (NP‑hard).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257800"/>
            <a:ext cx="10241280" cy="9144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54406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B1220"/>
                </a:solidFill>
                <a:latin typeface="Calibri"/>
              </a:defRPr>
            </a:pPr>
            <a:r>
              <a:t>Plan: Convert optimization → feasibility, then solve with Binary Search + Branch &amp; Bound.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0B1220"/>
                </a:solidFill>
                <a:latin typeface="Calibri"/>
              </a:rPr>
              <a:t>Search the Answer T (Makespan)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4B8A6"/>
                </a:solidFill>
                <a:latin typeface="Calibri"/>
              </a:rPr>
              <a:t>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881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B1220"/>
                </a:solidFill>
                <a:latin typeface="Calibri"/>
              </a:defRPr>
            </a:pPr>
            <a:r>
              <a:t>Key trick: monotonic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1024128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334155"/>
                </a:solidFill>
                <a:latin typeface="Calibri"/>
              </a:defRPr>
            </a:pPr>
            <a:r>
              <a:t>• Let T be the maximum allowed load per student.</a:t>
            </a:r>
          </a:p>
          <a:p>
            <a:pPr>
              <a:spcAft>
                <a:spcPts val="400"/>
              </a:spcAft>
              <a:defRPr sz="2200">
                <a:solidFill>
                  <a:srgbClr val="334155"/>
                </a:solidFill>
                <a:latin typeface="Calibri"/>
              </a:defRPr>
            </a:pPr>
            <a:r>
              <a:t>• If we can assign all questions with load ≤ T → feasible.</a:t>
            </a:r>
          </a:p>
          <a:p>
            <a:pPr>
              <a:spcAft>
                <a:spcPts val="400"/>
              </a:spcAft>
              <a:defRPr sz="2200">
                <a:solidFill>
                  <a:srgbClr val="334155"/>
                </a:solidFill>
                <a:latin typeface="Calibri"/>
              </a:defRPr>
            </a:pPr>
            <a:r>
              <a:t>• If T works, any larger T also works ⇒ monotonic.</a:t>
            </a:r>
          </a:p>
          <a:p>
            <a:pPr>
              <a:spcAft>
                <a:spcPts val="400"/>
              </a:spcAft>
              <a:defRPr sz="2200">
                <a:solidFill>
                  <a:srgbClr val="334155"/>
                </a:solidFill>
                <a:latin typeface="Calibri"/>
              </a:defRPr>
            </a:pPr>
            <a:r>
              <a:t>• Binary search T between LB and 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131676"/>
            <a:ext cx="10241280" cy="9144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54406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B1220"/>
                </a:solidFill>
                <a:latin typeface="Calibri"/>
              </a:defRPr>
            </a:pPr>
            <a:r>
              <a:rPr dirty="0"/>
              <a:t>Bounds: LB = max(max(w), ceil(sum(w)/m)), UB = load from a fast greedy schedule (LPT).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0B1220"/>
                </a:solidFill>
                <a:latin typeface="Calibri"/>
              </a:rPr>
              <a:t>Upper Bound: LPT Greedy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4B8A6"/>
                </a:solidFill>
                <a:latin typeface="Calibri"/>
              </a:rP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881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1600200"/>
            <a:ext cx="667512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76479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Julia (LPT upper bound)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120000"/>
            <a:ext cx="6035040" cy="25000"/>
          </a:xfrm>
          <a:prstGeom prst="rect">
            <a:avLst/>
          </a:prstGeom>
          <a:solidFill>
            <a:srgbClr val="2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286000"/>
            <a:ext cx="603504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</a:defRPr>
            </a:pPr>
            <a:r>
              <a:rPr dirty="0"/>
              <a:t>1 function </a:t>
            </a:r>
            <a:r>
              <a:rPr dirty="0" err="1"/>
              <a:t>lpt_upper_bound</a:t>
            </a:r>
            <a:r>
              <a:rPr dirty="0"/>
              <a:t>(w::Vector{Int}, m::Int)</a:t>
            </a:r>
            <a:br>
              <a:rPr dirty="0"/>
            </a:br>
            <a:r>
              <a:rPr dirty="0"/>
              <a:t>2     </a:t>
            </a:r>
            <a:r>
              <a:rPr dirty="0" err="1"/>
              <a:t>idx</a:t>
            </a:r>
            <a:r>
              <a:rPr dirty="0"/>
              <a:t> = </a:t>
            </a:r>
            <a:r>
              <a:rPr dirty="0" err="1"/>
              <a:t>sortperm</a:t>
            </a:r>
            <a:r>
              <a:rPr dirty="0"/>
              <a:t>(w; rev=true)</a:t>
            </a:r>
            <a:br>
              <a:rPr dirty="0"/>
            </a:br>
            <a:r>
              <a:rPr dirty="0"/>
              <a:t>3     loads = zeros(Int, m)</a:t>
            </a:r>
            <a:br>
              <a:rPr dirty="0"/>
            </a:br>
            <a:r>
              <a:rPr dirty="0"/>
              <a:t>4     bins  = [Int[] for _ in 1:m]</a:t>
            </a:r>
            <a:br>
              <a:rPr dirty="0"/>
            </a:br>
            <a:r>
              <a:rPr dirty="0"/>
              <a:t>5     for </a:t>
            </a:r>
            <a:r>
              <a:rPr dirty="0" err="1"/>
              <a:t>i</a:t>
            </a:r>
            <a:r>
              <a:rPr dirty="0"/>
              <a:t> in </a:t>
            </a:r>
            <a:r>
              <a:rPr dirty="0" err="1"/>
              <a:t>idx</a:t>
            </a:r>
            <a:br>
              <a:rPr dirty="0"/>
            </a:br>
            <a:r>
              <a:rPr dirty="0"/>
              <a:t>6         j = </a:t>
            </a:r>
            <a:r>
              <a:rPr dirty="0" err="1"/>
              <a:t>argmin</a:t>
            </a:r>
            <a:r>
              <a:rPr dirty="0"/>
              <a:t>(loads)</a:t>
            </a:r>
            <a:br>
              <a:rPr dirty="0"/>
            </a:br>
            <a:r>
              <a:rPr dirty="0"/>
              <a:t>7         push!(bins[j], </a:t>
            </a:r>
            <a:r>
              <a:rPr dirty="0" err="1"/>
              <a:t>i</a:t>
            </a:r>
            <a:r>
              <a:rPr dirty="0"/>
              <a:t>)</a:t>
            </a:r>
            <a:br>
              <a:rPr dirty="0"/>
            </a:br>
            <a:r>
              <a:rPr dirty="0"/>
              <a:t>8         loads[j] += w[</a:t>
            </a:r>
            <a:r>
              <a:rPr dirty="0" err="1"/>
              <a:t>i</a:t>
            </a:r>
            <a:r>
              <a:rPr dirty="0"/>
              <a:t>]</a:t>
            </a:r>
            <a:br>
              <a:rPr dirty="0"/>
            </a:br>
            <a:r>
              <a:rPr dirty="0"/>
              <a:t>9     end</a:t>
            </a:r>
            <a:br>
              <a:rPr dirty="0"/>
            </a:br>
            <a:r>
              <a:rPr dirty="0"/>
              <a:t>10    return bins, loads, maximum(loads)</a:t>
            </a:r>
            <a:br>
              <a:rPr dirty="0"/>
            </a:br>
            <a:r>
              <a:rPr dirty="0"/>
              <a:t>11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600200"/>
            <a:ext cx="3703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8745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B1220"/>
                </a:solidFill>
                <a:latin typeface="Calibri"/>
              </a:defRPr>
            </a:pPr>
            <a:r>
              <a:t>Key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286000"/>
            <a:ext cx="338328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• Sort by stars (largest first).</a:t>
            </a:r>
          </a:p>
          <a:p>
            <a:pPr>
              <a:spcAft>
                <a:spcPts val="4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• Always place into the current minimum load.</a:t>
            </a:r>
          </a:p>
          <a:p>
            <a:pPr>
              <a:spcAft>
                <a:spcPts val="4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• Gives a quick feasible schedule (UB) for the exact search.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892040"/>
            <a:ext cx="3383280" cy="10515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5074920"/>
            <a:ext cx="32481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B1220"/>
                </a:solidFill>
                <a:latin typeface="Calibri"/>
              </a:defRPr>
            </a:pPr>
            <a:r>
              <a:rPr dirty="0"/>
              <a:t>LPT is fast (O(n log n)) and usually close —</a:t>
            </a:r>
            <a:endParaRPr lang="en-US" dirty="0"/>
          </a:p>
          <a:p>
            <a:pPr>
              <a:defRPr sz="1400">
                <a:solidFill>
                  <a:srgbClr val="0B1220"/>
                </a:solidFill>
                <a:latin typeface="Calibri"/>
              </a:defRPr>
            </a:pPr>
            <a:r>
              <a:rPr dirty="0"/>
              <a:t> but not guaranteed optimal.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0B1220"/>
                </a:solidFill>
                <a:latin typeface="Calibri"/>
              </a:rPr>
              <a:t>Feasibility Test: DFS + 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787" y="694045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4B8A6"/>
                </a:solidFill>
                <a:latin typeface="Calibri"/>
              </a:rPr>
              <a:t>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05840"/>
            <a:ext cx="7360920" cy="57332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3682" y="1146088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Julia (branch &amp; bound feasibility)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893682" y="1501296"/>
            <a:ext cx="6035040" cy="25000"/>
          </a:xfrm>
          <a:prstGeom prst="rect">
            <a:avLst/>
          </a:prstGeom>
          <a:solidFill>
            <a:srgbClr val="2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3682" y="1634344"/>
            <a:ext cx="603504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</a:defRPr>
            </a:pPr>
            <a:r>
              <a:rPr dirty="0"/>
              <a:t>1 function </a:t>
            </a:r>
            <a:r>
              <a:rPr dirty="0" err="1"/>
              <a:t>feasible_assignment</a:t>
            </a:r>
            <a:r>
              <a:rPr dirty="0"/>
              <a:t>(w::Vector{Int}, m::Int, T::Int)</a:t>
            </a:r>
            <a:br>
              <a:rPr dirty="0"/>
            </a:br>
            <a:r>
              <a:rPr dirty="0"/>
              <a:t>2     </a:t>
            </a:r>
            <a:r>
              <a:rPr dirty="0" err="1"/>
              <a:t>idx</a:t>
            </a:r>
            <a:r>
              <a:rPr dirty="0"/>
              <a:t> = </a:t>
            </a:r>
            <a:r>
              <a:rPr dirty="0" err="1"/>
              <a:t>sortperm</a:t>
            </a:r>
            <a:r>
              <a:rPr dirty="0"/>
              <a:t>(w; rev=true)   # big items first</a:t>
            </a:r>
            <a:br>
              <a:rPr dirty="0"/>
            </a:br>
            <a:r>
              <a:rPr dirty="0"/>
              <a:t>3     loads  = zeros(Int, m)</a:t>
            </a:r>
            <a:br>
              <a:rPr dirty="0"/>
            </a:br>
            <a:r>
              <a:rPr dirty="0"/>
              <a:t>4     bins   = [Int[] for _ in 1:m]</a:t>
            </a:r>
            <a:br>
              <a:rPr dirty="0"/>
            </a:br>
            <a:r>
              <a:rPr dirty="0"/>
              <a:t>5     counts = zeros(Int, m)        # enforce non‑empty</a:t>
            </a:r>
            <a:br>
              <a:rPr dirty="0"/>
            </a:br>
            <a:r>
              <a:rPr dirty="0"/>
              <a:t>6</a:t>
            </a:r>
            <a:br>
              <a:rPr dirty="0"/>
            </a:br>
            <a:r>
              <a:rPr dirty="0"/>
              <a:t>7     function </a:t>
            </a:r>
            <a:r>
              <a:rPr dirty="0" err="1"/>
              <a:t>dfs</a:t>
            </a:r>
            <a:r>
              <a:rPr dirty="0"/>
              <a:t>(k::Int)</a:t>
            </a:r>
            <a:br>
              <a:rPr dirty="0"/>
            </a:br>
            <a:r>
              <a:rPr dirty="0"/>
              <a:t>8         k &gt; length(w) &amp;&amp; return all(&gt;(0), counts)</a:t>
            </a:r>
            <a:br>
              <a:rPr dirty="0"/>
            </a:br>
            <a:r>
              <a:rPr dirty="0"/>
              <a:t>9         remaining = length(w) - k + 1</a:t>
            </a:r>
            <a:br>
              <a:rPr dirty="0"/>
            </a:br>
            <a:r>
              <a:rPr dirty="0"/>
              <a:t>10        empty = count(==(0), counts)</a:t>
            </a:r>
            <a:br>
              <a:rPr dirty="0"/>
            </a:br>
            <a:r>
              <a:rPr dirty="0"/>
              <a:t>11        remaining &lt; empty &amp;&amp; return false</a:t>
            </a:r>
            <a:br>
              <a:rPr dirty="0"/>
            </a:br>
            <a:r>
              <a:rPr dirty="0"/>
              <a:t>12</a:t>
            </a:r>
            <a:br>
              <a:rPr dirty="0"/>
            </a:br>
            <a:r>
              <a:rPr dirty="0"/>
              <a:t>13        q  = </a:t>
            </a:r>
            <a:r>
              <a:rPr dirty="0" err="1"/>
              <a:t>idx</a:t>
            </a:r>
            <a:r>
              <a:rPr dirty="0"/>
              <a:t>[k]; </a:t>
            </a:r>
            <a:r>
              <a:rPr dirty="0" err="1"/>
              <a:t>wi</a:t>
            </a:r>
            <a:r>
              <a:rPr dirty="0"/>
              <a:t> = w[q]</a:t>
            </a:r>
            <a:br>
              <a:rPr dirty="0"/>
            </a:br>
            <a:r>
              <a:rPr dirty="0"/>
              <a:t>14        for s in 1:m</a:t>
            </a:r>
            <a:br>
              <a:rPr dirty="0"/>
            </a:br>
            <a:r>
              <a:rPr dirty="0"/>
              <a:t>15            loads[s] + </a:t>
            </a:r>
            <a:r>
              <a:rPr dirty="0" err="1"/>
              <a:t>wi</a:t>
            </a:r>
            <a:r>
              <a:rPr dirty="0"/>
              <a:t> &gt; T &amp;&amp; continue   # capacity prune</a:t>
            </a:r>
            <a:br>
              <a:rPr dirty="0"/>
            </a:br>
            <a:r>
              <a:rPr dirty="0"/>
              <a:t>16            # symmetry prune + choose/recurse/undo ...</a:t>
            </a:r>
            <a:br>
              <a:rPr dirty="0"/>
            </a:br>
            <a:r>
              <a:rPr dirty="0"/>
              <a:t>17        end</a:t>
            </a:r>
            <a:br>
              <a:rPr dirty="0"/>
            </a:br>
            <a:r>
              <a:rPr dirty="0"/>
              <a:t>18        return false</a:t>
            </a:r>
            <a:br>
              <a:rPr dirty="0"/>
            </a:br>
            <a:r>
              <a:rPr dirty="0"/>
              <a:t>19     end</a:t>
            </a:r>
            <a:br>
              <a:rPr dirty="0"/>
            </a:br>
            <a:r>
              <a:rPr dirty="0"/>
              <a:t>20</a:t>
            </a:r>
            <a:br>
              <a:rPr dirty="0"/>
            </a:br>
            <a:r>
              <a:rPr dirty="0"/>
              <a:t>21     ok = </a:t>
            </a:r>
            <a:r>
              <a:rPr dirty="0" err="1"/>
              <a:t>dfs</a:t>
            </a:r>
            <a:r>
              <a:rPr dirty="0"/>
              <a:t>(1)</a:t>
            </a:r>
            <a:br>
              <a:rPr dirty="0"/>
            </a:br>
            <a:r>
              <a:rPr dirty="0"/>
              <a:t>22     return ok ? (bins, loads) : nothing</a:t>
            </a:r>
            <a:br>
              <a:rPr dirty="0"/>
            </a:br>
            <a:r>
              <a:rPr dirty="0"/>
              <a:t>23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86590" y="1005840"/>
            <a:ext cx="3703320" cy="573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66316" y="1252143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B1220"/>
                </a:solidFill>
                <a:latin typeface="Calibri"/>
              </a:defRPr>
            </a:pPr>
            <a:r>
              <a:rPr dirty="0"/>
              <a:t>Key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6316" y="1663623"/>
            <a:ext cx="338328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• Backtracking: assign hardest remaining question.</a:t>
            </a:r>
          </a:p>
          <a:p>
            <a:pPr>
              <a:spcAft>
                <a:spcPts val="4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• Prune early if impossible (capacity / not enough items).</a:t>
            </a:r>
          </a:p>
          <a:p>
            <a:pPr>
              <a:spcAft>
                <a:spcPts val="4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t>• Symmetry pruning avoids repeating equivalent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5300" y="4892040"/>
            <a:ext cx="3383280" cy="10515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66316" y="5082637"/>
            <a:ext cx="33320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B1220"/>
                </a:solidFill>
                <a:latin typeface="Calibri"/>
              </a:defRPr>
            </a:pPr>
            <a:r>
              <a:rPr dirty="0"/>
              <a:t>This is exact: if it says “feasible”, </a:t>
            </a:r>
            <a:endParaRPr lang="en-US" dirty="0"/>
          </a:p>
          <a:p>
            <a:pPr>
              <a:defRPr sz="1400">
                <a:solidFill>
                  <a:srgbClr val="0B1220"/>
                </a:solidFill>
                <a:latin typeface="Calibri"/>
              </a:defRPr>
            </a:pPr>
            <a:r>
              <a:rPr dirty="0"/>
              <a:t>the assignment is real; if not, T is too small.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0B1220"/>
                </a:solidFill>
                <a:latin typeface="Calibri"/>
              </a:rPr>
              <a:t>Exact Solver: Binary Search on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4B8A6"/>
                </a:solidFill>
                <a:latin typeface="Calibri"/>
              </a:rP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881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2065" y="1375719"/>
            <a:ext cx="6708895" cy="4705041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3340" y="1528896"/>
            <a:ext cx="5968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rPr dirty="0"/>
              <a:t>Julia (exact optimizer)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7026" y="1795388"/>
            <a:ext cx="6035040" cy="25000"/>
          </a:xfrm>
          <a:prstGeom prst="rect">
            <a:avLst/>
          </a:prstGeom>
          <a:solidFill>
            <a:srgbClr val="2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7026" y="1903722"/>
            <a:ext cx="603504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</a:defRPr>
            </a:pPr>
            <a:r>
              <a:rPr dirty="0"/>
              <a:t>1 function </a:t>
            </a:r>
            <a:r>
              <a:rPr dirty="0" err="1"/>
              <a:t>solve_optimal</a:t>
            </a:r>
            <a:r>
              <a:rPr dirty="0"/>
              <a:t>(w::Vector{Int}, m::Int)</a:t>
            </a:r>
            <a:br>
              <a:rPr dirty="0"/>
            </a:br>
            <a:r>
              <a:rPr dirty="0"/>
              <a:t>2     _, _, </a:t>
            </a:r>
            <a:r>
              <a:rPr dirty="0" err="1"/>
              <a:t>ub</a:t>
            </a:r>
            <a:r>
              <a:rPr dirty="0"/>
              <a:t> = </a:t>
            </a:r>
            <a:r>
              <a:rPr dirty="0" err="1"/>
              <a:t>lpt_upper_bound</a:t>
            </a:r>
            <a:r>
              <a:rPr dirty="0"/>
              <a:t>(w, m)</a:t>
            </a:r>
            <a:br>
              <a:rPr dirty="0"/>
            </a:br>
            <a:r>
              <a:rPr dirty="0"/>
              <a:t>3     </a:t>
            </a:r>
            <a:r>
              <a:rPr dirty="0" err="1"/>
              <a:t>lb</a:t>
            </a:r>
            <a:r>
              <a:rPr dirty="0"/>
              <a:t> = max(maximum(w), </a:t>
            </a:r>
            <a:r>
              <a:rPr dirty="0" err="1"/>
              <a:t>cld</a:t>
            </a:r>
            <a:r>
              <a:rPr dirty="0"/>
              <a:t>(sum(w), m))</a:t>
            </a:r>
            <a:br>
              <a:rPr dirty="0"/>
            </a:br>
            <a:r>
              <a:rPr dirty="0"/>
              <a:t>4     best = nothing</a:t>
            </a:r>
            <a:br>
              <a:rPr dirty="0"/>
            </a:br>
            <a:r>
              <a:rPr dirty="0"/>
              <a:t>5</a:t>
            </a:r>
            <a:br>
              <a:rPr dirty="0"/>
            </a:br>
            <a:r>
              <a:rPr dirty="0"/>
              <a:t>6     while </a:t>
            </a:r>
            <a:r>
              <a:rPr dirty="0" err="1"/>
              <a:t>lb</a:t>
            </a:r>
            <a:r>
              <a:rPr dirty="0"/>
              <a:t> &lt; </a:t>
            </a:r>
            <a:r>
              <a:rPr dirty="0" err="1"/>
              <a:t>ub</a:t>
            </a:r>
            <a:br>
              <a:rPr dirty="0"/>
            </a:br>
            <a:r>
              <a:rPr dirty="0"/>
              <a:t>7         mid = (</a:t>
            </a:r>
            <a:r>
              <a:rPr dirty="0" err="1"/>
              <a:t>lb</a:t>
            </a:r>
            <a:r>
              <a:rPr dirty="0"/>
              <a:t> + </a:t>
            </a:r>
            <a:r>
              <a:rPr dirty="0" err="1"/>
              <a:t>ub</a:t>
            </a:r>
            <a:r>
              <a:rPr dirty="0"/>
              <a:t>) ÷ 2</a:t>
            </a:r>
            <a:br>
              <a:rPr dirty="0"/>
            </a:br>
            <a:r>
              <a:rPr dirty="0"/>
              <a:t>8         res = </a:t>
            </a:r>
            <a:r>
              <a:rPr dirty="0" err="1"/>
              <a:t>feasible_assignment</a:t>
            </a:r>
            <a:r>
              <a:rPr dirty="0"/>
              <a:t>(w, m, mid)</a:t>
            </a:r>
            <a:br>
              <a:rPr dirty="0"/>
            </a:br>
            <a:r>
              <a:rPr dirty="0"/>
              <a:t>9         if res === nothing</a:t>
            </a:r>
            <a:br>
              <a:rPr dirty="0"/>
            </a:br>
            <a:r>
              <a:rPr dirty="0"/>
              <a:t>10            </a:t>
            </a:r>
            <a:r>
              <a:rPr dirty="0" err="1"/>
              <a:t>lb</a:t>
            </a:r>
            <a:r>
              <a:rPr dirty="0"/>
              <a:t> = mid + 1</a:t>
            </a:r>
            <a:br>
              <a:rPr dirty="0"/>
            </a:br>
            <a:r>
              <a:rPr dirty="0"/>
              <a:t>11        else</a:t>
            </a:r>
            <a:br>
              <a:rPr dirty="0"/>
            </a:br>
            <a:r>
              <a:rPr dirty="0"/>
              <a:t>12            </a:t>
            </a:r>
            <a:r>
              <a:rPr dirty="0" err="1"/>
              <a:t>ub</a:t>
            </a:r>
            <a:r>
              <a:rPr dirty="0"/>
              <a:t> = mid</a:t>
            </a:r>
            <a:br>
              <a:rPr dirty="0"/>
            </a:br>
            <a:r>
              <a:rPr dirty="0"/>
              <a:t>13            best = res</a:t>
            </a:r>
            <a:br>
              <a:rPr dirty="0"/>
            </a:br>
            <a:r>
              <a:rPr dirty="0"/>
              <a:t>14        end</a:t>
            </a:r>
            <a:br>
              <a:rPr dirty="0"/>
            </a:br>
            <a:r>
              <a:rPr dirty="0"/>
              <a:t>15    end</a:t>
            </a:r>
            <a:br>
              <a:rPr dirty="0"/>
            </a:br>
            <a:r>
              <a:rPr dirty="0"/>
              <a:t>16    best === nothing &amp;&amp; (best = </a:t>
            </a:r>
            <a:r>
              <a:rPr dirty="0" err="1"/>
              <a:t>feasible_assignment</a:t>
            </a:r>
            <a:r>
              <a:rPr dirty="0"/>
              <a:t>(w, m, </a:t>
            </a:r>
            <a:r>
              <a:rPr dirty="0" err="1"/>
              <a:t>lb</a:t>
            </a:r>
            <a:r>
              <a:rPr dirty="0"/>
              <a:t>))</a:t>
            </a:r>
            <a:br>
              <a:rPr dirty="0"/>
            </a:br>
            <a:r>
              <a:rPr dirty="0"/>
              <a:t>17    return best[1], best[2], </a:t>
            </a:r>
            <a:r>
              <a:rPr dirty="0" err="1"/>
              <a:t>lb</a:t>
            </a:r>
            <a:br>
              <a:rPr dirty="0"/>
            </a:br>
            <a:r>
              <a:rPr dirty="0"/>
              <a:t>18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85168" y="1375719"/>
            <a:ext cx="3703320" cy="4705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8745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B1220"/>
                </a:solidFill>
                <a:latin typeface="Calibri"/>
              </a:defRPr>
            </a:pPr>
            <a:r>
              <a:t>Key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286000"/>
            <a:ext cx="338328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/>
              <a:t>• Binary search T using monotonic feasibility.</a:t>
            </a:r>
          </a:p>
          <a:p>
            <a:pPr>
              <a:spcAft>
                <a:spcPts val="4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/>
              <a:t>• Each check calls DFS + pruning.</a:t>
            </a:r>
          </a:p>
          <a:p>
            <a:pPr>
              <a:spcAft>
                <a:spcPts val="400"/>
              </a:spcAft>
              <a:defRPr sz="1600">
                <a:solidFill>
                  <a:srgbClr val="334155"/>
                </a:solidFill>
                <a:latin typeface="Calibri"/>
              </a:defRPr>
            </a:pPr>
            <a:r>
              <a:rPr dirty="0"/>
              <a:t>• Returns one optimal assignment and the optimal 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1250" y="4892040"/>
            <a:ext cx="3209874" cy="10515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4130" y="5074920"/>
            <a:ext cx="29296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B1220"/>
                </a:solidFill>
                <a:latin typeface="Calibri"/>
              </a:defRPr>
            </a:pPr>
            <a:r>
              <a:rPr dirty="0"/>
              <a:t>Guarantee: the returned T is the true </a:t>
            </a:r>
            <a:endParaRPr lang="fa-IR" dirty="0"/>
          </a:p>
          <a:p>
            <a:pPr>
              <a:defRPr sz="1400">
                <a:solidFill>
                  <a:srgbClr val="0B1220"/>
                </a:solidFill>
                <a:latin typeface="Calibri"/>
              </a:defRPr>
            </a:pPr>
            <a:r>
              <a:rPr dirty="0"/>
              <a:t>optimum (no </a:t>
            </a:r>
            <a:r>
              <a:rPr dirty="0" err="1"/>
              <a:t>JuMP</a:t>
            </a:r>
            <a:r>
              <a:rPr dirty="0"/>
              <a:t>/</a:t>
            </a:r>
            <a:r>
              <a:rPr dirty="0" err="1"/>
              <a:t>HiGHS</a:t>
            </a:r>
            <a:r>
              <a:rPr dirty="0"/>
              <a:t> needed).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0B1220"/>
                </a:solidFill>
                <a:latin typeface="Calibri"/>
              </a:rPr>
              <a:t>Trade‑offs &amp; Practical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4B8A6"/>
                </a:solidFill>
                <a:latin typeface="Calibri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881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29000"/>
            <a:ext cx="1024128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334155"/>
                </a:solidFill>
                <a:latin typeface="Calibri"/>
              </a:defRPr>
            </a:pPr>
            <a:r>
              <a:rPr dirty="0"/>
              <a:t>• Worst‑case runtime is exponential (NP‑hard) — that’s expected.</a:t>
            </a:r>
          </a:p>
          <a:p>
            <a:pPr>
              <a:spcAft>
                <a:spcPts val="400"/>
              </a:spcAft>
              <a:defRPr sz="2200">
                <a:solidFill>
                  <a:srgbClr val="334155"/>
                </a:solidFill>
                <a:latin typeface="Calibri"/>
              </a:defRPr>
            </a:pPr>
            <a:r>
              <a:rPr dirty="0"/>
              <a:t>• Pruning + strong UB (LPT) makes it practical for typical class‑size inputs.</a:t>
            </a:r>
          </a:p>
          <a:p>
            <a:pPr>
              <a:spcAft>
                <a:spcPts val="400"/>
              </a:spcAft>
              <a:defRPr sz="2200">
                <a:solidFill>
                  <a:srgbClr val="334155"/>
                </a:solidFill>
                <a:latin typeface="Calibri"/>
              </a:defRPr>
            </a:pPr>
            <a:r>
              <a:rPr dirty="0"/>
              <a:t>• You can add: time limit, return best‑so‑far, or run greedy first to compare.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5257800"/>
            <a:ext cx="9875520" cy="895865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55321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B1220"/>
                </a:solidFill>
                <a:latin typeface="Calibri"/>
              </a:defRPr>
            </a:pPr>
            <a:r>
              <a:rPr dirty="0"/>
              <a:t>Message: We built a solver from scratch that proves optimality when it finishes.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40" y="302205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77240" y="3977640"/>
            <a:ext cx="365760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3038</Words>
  <Application>Microsoft Macintosh PowerPoint</Application>
  <PresentationFormat>Widescreen</PresentationFormat>
  <Paragraphs>235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Balancing Questions Among Students</dc:title>
  <dc:subject>Greedy vs Optimization</dc:subject>
  <dc:creator>OpenAI ChatGPT</dc:creator>
  <cp:lastModifiedBy>amirrmf1382@gmail.com</cp:lastModifiedBy>
  <cp:revision>2</cp:revision>
  <dcterms:created xsi:type="dcterms:W3CDTF">2026-01-01T12:40:46Z</dcterms:created>
  <dcterms:modified xsi:type="dcterms:W3CDTF">2026-01-05T21:23:52Z</dcterms:modified>
</cp:coreProperties>
</file>